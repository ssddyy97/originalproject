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15秒】</a:t>
            </a:r>
          </a:p>
          <a:p>
            <a:r>
              <a:t>本日は、自己紹介と今後の目標、そして制作した予約システム「Reserve Hub」について発表します。</a:t>
            </a:r>
          </a:p>
          <a:p>
            <a:r>
              <a:t>한국어: 자기소개와 목표, 작품을 소개하며 시작합니다.</a:t>
            </a:r>
          </a:p>
          <a:p/>
          <a:p>
            <a:r>
              <a:t>参照：原本スライド1・README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10秒】</a:t>
            </a:r>
          </a:p>
          <a:p>
            <a:r>
              <a:t>最初に私自身と日本に来たきっかけをお話しします。その後、強みと3年後の目標、作品の工夫、最後にデモをご紹介します。</a:t>
            </a:r>
          </a:p>
          <a:p/>
          <a:p>
            <a:r>
              <a:t>参照：原本スライド2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35秒】</a:t>
            </a:r>
          </a:p>
          <a:p>
            <a:r>
              <a:t>韓国出身のソ・ドンユンです。大学では経営学を専攻しました。その後、AI金融ソフトウェア学科やSoldeskでITを学び、Web・モバイルアプリ、機械学習、サーバー構築などに取り組んできました。趣味は旅行、ゲーム、ドラマ、映画、読書、野球です。</a:t>
            </a:r>
          </a:p>
          <a:p/>
          <a:p>
            <a:r>
              <a:t>参照：原本スライド4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40秒】</a:t>
            </a:r>
          </a:p>
          <a:p>
            <a:r>
              <a:t>子どもの頃から日本のアニメや漫画が好きでした。何度も旅行する中で、日本の文化や生活が自分に合っていると感じました。言語交換アプリで知り合った友人と約1年半交流し、日本語の学習を続けてJLPT N2・N1を取得しました。その経験から、日本で生活し、働くことを決めました。</a:t>
            </a:r>
          </a:p>
          <a:p/>
          <a:p>
            <a:r>
              <a:t>参照：原本スライド5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35秒】</a:t>
            </a:r>
          </a:p>
          <a:p>
            <a:r>
              <a:t>私の強みは、学び続けること、仕組みで考えること、最後まで動かすことです。今回の作品では、設計を学びながらドメインを分離し、重複予約をアプリケーションとDBの両方で守り、サーバーで動かすところまで取り組みました。エラー時にもログを確認して原因を追うことを大切にしました。</a:t>
            </a:r>
          </a:p>
          <a:p>
            <a:r>
              <a:t>한국어: 막연한 장점 대신 이번 작품에서 실제로 한 일을 근거로 설명합니다.</a:t>
            </a:r>
          </a:p>
          <a:p/>
          <a:p>
            <a:r>
              <a:t>参照：原本スライド4・README・配備記録から自己PRを構成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35秒】</a:t>
            </a:r>
          </a:p>
          <a:p>
            <a:r>
              <a:t>3年後は、技術だけでなく周囲から信頼されるテクニカルリードを目指しています。技術力、対話力、リーダーシップを伸ばしながら、語学、健康、メンタル、創造力も大切にします。日々の学習や日本語での交流を続け、小さな行動を積み重ねたいです。</a:t>
            </a:r>
          </a:p>
          <a:p>
            <a:r>
              <a:t>한국어: 본문은 원본 64표의 중심 8축 요약입니다. 상세 원본은 부록에 보존했습니다.</a:t>
            </a:r>
          </a:p>
          <a:p/>
          <a:p>
            <a:r>
              <a:t>参照：原本スライド8のオープンウインドウ64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20秒】</a:t>
            </a:r>
          </a:p>
          <a:p>
            <a:r>
              <a:t>ここからは、制作したReserve Hubをご紹介します。会議室などの共有リソースを時間単位で予約するシステムです。安心して予約でき、変更にも対応しやすい基盤を目指しました。</a:t>
            </a:r>
          </a:p>
          <a:p/>
          <a:p>
            <a:r>
              <a:t>参照：README・原本スライド9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30秒】</a:t>
            </a:r>
          </a:p>
          <a:p>
            <a:r>
              <a:t>予約システムを題材にすると、登録や照会に加え、同時アクセス時の競合や状態管理まで考える必要があります。今回は、同じ時間帯に予約が重なる問題を中心に、設計、テスト、デプロイまで経験できる作品にしました。</a:t>
            </a:r>
          </a:p>
          <a:p/>
          <a:p>
            <a:r>
              <a:t>参照：READMEの重要課題・設計選択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30秒】</a:t>
            </a:r>
          </a:p>
          <a:p>
            <a:r>
              <a:t>会議室A・B・Cと日付を選び、空き時間を確認できます。緑は空き、青は選択中です。右側で内容を確認して予約します。作成後はDBからの再照会やキャンセルもできます。</a:t>
            </a:r>
          </a:p>
          <a:p>
            <a:r>
              <a:t>注：この画像は実際のindex.htmlを表示し、空き状況APIにサンプル応答を使用した画面例です。実DBの動作証明ではありません。</a:t>
            </a:r>
          </a:p>
          <a:p/>
          <a:p>
            <a:r>
              <a:t>参照：src/main/resources/static/index.html・画面表示用サンプルデータ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45秒】</a:t>
            </a:r>
          </a:p>
          <a:p>
            <a:r>
              <a:t>アプリケーションでは、同じリソースの確定済み予約と時間が重なるかを確認します。ただし、複数のリクエストが同時に確認を通る可能性があります。そのため、PostgreSQLの排他制約でも重複を防止しました。時間帯は開始を含み終了を含まないため、10時から11時と11時から12時の連続予約は可能です。キャンセル済みの予約は重複判定から除外します。</a:t>
            </a:r>
          </a:p>
          <a:p/>
          <a:p>
            <a:r>
              <a:t>参照：CreateReservationService.java・V1__create_reservations.sql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45秒】</a:t>
            </a:r>
          </a:p>
          <a:p>
            <a:r>
              <a:t>中心はReservationとReservationPeriodです。その外側にユースケースを置き、Webと永続化をポートとアダプターで分離しました。DomainとApplication ServiceにはSpringやJPAのアノテーションを置かず、設定クラスで組み立てています。図の矢印は処理の流れです。依存関係ではJPA AdapterがRepository Portを実装します。DBを変える場合、PostgreSQL固有の排他制約は再設計が必要です。</a:t>
            </a:r>
          </a:p>
          <a:p/>
          <a:p>
            <a:r>
              <a:t>参照：reservation/domain・application・adapter・ReservationConfiguration.java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35秒】</a:t>
            </a:r>
          </a:p>
          <a:p>
            <a:r>
              <a:t>同じ予約を10件同時に送信し、成功が1件、競合が9件、DBに保存された予約が1件になることを検証しています。既存のローカルJUnitレポートでは29件のテストが成功しています。これは保存済みの実行結果で、この資料作成時に新しく実行した結果ではありません。</a:t>
            </a:r>
          </a:p>
          <a:p>
            <a:r>
              <a:t>한국어: 수치는 저장된 test-results와 테스트 코드에서 확인한 값입니다.</a:t>
            </a:r>
          </a:p>
          <a:p/>
          <a:p>
            <a:r>
              <a:t>参照：ReservationApiConcurrencyTest.java・build/test-results/test/TEST-*.xml（既存レポート）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35秒】</a:t>
            </a:r>
          </a:p>
          <a:p>
            <a:r>
              <a:t>mainブランチにPushすると、GitHub上でテストとJARのビルドを実行します。テストが成功した場合だけ、Oracle LinuxのSelf-hosted Runnerが成果物を受け取り、配備スクリプトを実行します。運用環境はNginx、systemd、Docker上のPostgreSQLを利用しています。配備記録では、既存JARのバックアップと起動失敗時のロールバックも構成しました。</a:t>
            </a:r>
          </a:p>
          <a:p/>
          <a:p>
            <a:r>
              <a:t>参照：.github/workflows/ci.yml・Reserve-Hub_CICD_Deployment_Setup.md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45秒】</a:t>
            </a:r>
          </a:p>
          <a:p>
            <a:r>
              <a:t>Runnerの認証失敗は、VMの時刻が約15時間50分ずれていたことが原因でした。chronyで同期して解決しました。systemdの203/EXECはSELinuxのログを調べ、Runnerの配置場所とコンテキストを修正しました。Nginxの502も監査ログから通信制限を確認しました。SELinux全体を無効化せず、必要な設定を修正して解決しました。</a:t>
            </a:r>
          </a:p>
          <a:p/>
          <a:p>
            <a:r>
              <a:t>参照：READMEのトラブルシューティング・配備記録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60〜90秒】</a:t>
            </a:r>
          </a:p>
          <a:p>
            <a:r>
              <a:t>それでは実際の画面をご覧ください。会議室と空いている時間帯を選び、予約します。CONFIRMEDになったことを確認し、DBから再照会します。次にキャンセルするとCANCELLEDに変わり、時間帯が空きに戻ります。同じ時間帯を再予約できることを確認します。</a:t>
            </a:r>
          </a:p>
          <a:p>
            <a:r>
              <a:t>한국어: 브라우저에서 실제 서버를 열어 진행하세요. 발표 전 DB와 서버 실행 및 사용할 시간의 공석을 확인하세요. 이 PPT는 DB나 서버를 시작하지 않습니다.</a:t>
            </a:r>
          </a:p>
          <a:p/>
          <a:p>
            <a:r>
              <a:t>参照：index.html・既存発表スクリプト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30秒】</a:t>
            </a:r>
          </a:p>
          <a:p>
            <a:r>
              <a:t>現在は各時間帯ごとに空き状況APIを呼んでいます。最初に日単位の一括取得APIへ改善したいです。次に認証・認可、ユーザー別予約管理、会議室情報のDB管理を追加し、HTTPSや監視も整えます。これらは今後の改善予定であり、実装済みではありません。</a:t>
            </a:r>
          </a:p>
          <a:p/>
          <a:p>
            <a:r>
              <a:t>参照：READMEの設計選択・今後の改善計画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【目安 20秒】</a:t>
            </a:r>
          </a:p>
          <a:p>
            <a:r>
              <a:t>この作品を通じて、実装だけでなく設計、テスト、デプロイ、障害分析まで一つの流れとして経験できました。今後も学び続け、安心して任せてもらえるエンジニアを目指します。ご清聴ありがとうございました。</a:t>
            </a:r>
          </a:p>
          <a:p/>
          <a:p>
            <a:r>
              <a:t>参照：既存発表スクリプト・原本最終スライドの本人情報に修正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【補足資料 / 通常は読み上げ不要】</a:t>
            </a:r>
          </a:p>
          <a:p>
            <a:r>
              <a:t>原本スライド8の画像をそのまま保存しています。本文スライド6は中心目標と8つの軸を読みやすく要約したものです。</a:t>
            </a:r>
          </a:p>
          <a:p/>
          <a:p>
            <a:r>
              <a:t>参照：原本スライド8 / ppt/media/image11.png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【補足資料 / 質疑応答用】</a:t>
            </a:r>
          </a:p>
          <a:p>
            <a:r>
              <a:t>Q：小規模なのに複雑では？ A：一般的な三層構造の方が実装量は少ないです。今回は設計の学習と変更の影響範囲の明確化を目的に選びました。</a:t>
            </a:r>
          </a:p>
          <a:p>
            <a:r>
              <a:t>Q：DBは交換できますか？ A：保存処理はAdapterで分離していますが、重複防止制約はPostgreSQL固有なので再設計が必要です。</a:t>
            </a:r>
          </a:p>
          <a:p>
            <a:r>
              <a:t>Q：キャンセル時に消さない理由は？ A：履歴を残すためです。確定済みだけを重複判定の対象にします。</a:t>
            </a:r>
          </a:p>
          <a:p/>
          <a:p>
            <a:r>
              <a:t>参照：READMEのトレードオフ・既存発表スクリプトの想定Q&amp;A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70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E2C0"/>
                </a:solidFill>
                <a:latin typeface="Aptos"/>
                <a:ea typeface="Aptos"/>
              </a:rPr>
              <a:t>ORIGINAL WORK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30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A2B2C5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E2C0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1381125"/>
            <a:ext cx="7429500" cy="1762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950" b="1">
                <a:solidFill>
                  <a:srgbClr val="FFFFFF"/>
                </a:solidFill>
                <a:latin typeface="Yu Gothic"/>
                <a:ea typeface="Yu Gothic"/>
              </a:rPr>
              <a:t>オリジナル作品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950" b="1">
                <a:solidFill>
                  <a:srgbClr val="FFFFFF"/>
                </a:solidFill>
                <a:latin typeface="Yu Gothic"/>
                <a:ea typeface="Yu Gothic"/>
              </a:rPr>
              <a:t>発表会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352800"/>
            <a:ext cx="7429500" cy="52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70E2C0"/>
                </a:solidFill>
                <a:latin typeface="Yu Gothic"/>
                <a:ea typeface="Yu Gothic"/>
              </a:rPr>
              <a:t>学びを、動くシステムへ。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791075"/>
            <a:ext cx="64770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</a:rPr>
              <a:t>徐東潤  /  ソ・ドンユン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5295900"/>
            <a:ext cx="47625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配属先：名古屋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7250" y="1238250"/>
            <a:ext cx="3200400" cy="440055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2525" y="1628775"/>
            <a:ext cx="2552700" cy="1171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</a:rPr>
              <a:t>RESERVE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</a:rPr>
              <a:t>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2525" y="3019425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70E2C0"/>
                </a:solidFill>
                <a:latin typeface="Yu Gothic"/>
                <a:ea typeface="Yu Gothic"/>
              </a:rPr>
              <a:t>設計から、運用まで。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1575" y="3762374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72625" y="3762374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53675" y="3762374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91575" y="41814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2625" y="41814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70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53675" y="41814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91575" y="46005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72625" y="46005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53675" y="4600575"/>
            <a:ext cx="619125" cy="276225"/>
          </a:xfrm>
          <a:prstGeom prst="roundRect">
            <a:avLst>
              <a:gd name="adj" fmla="val 12000"/>
            </a:avLst>
          </a:prstGeom>
          <a:solidFill>
            <a:srgbClr val="3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2525" y="5238750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BC9D8"/>
                </a:solidFill>
                <a:latin typeface="Aptos"/>
                <a:ea typeface="Aptos"/>
              </a:rPr>
              <a:t>JAVA  /  SPRING BOOT  /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今日、お伝えしたいこと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「どんな人か」から、「何をつくったか」へ。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2276475"/>
            <a:ext cx="819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F74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2286000"/>
            <a:ext cx="390524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Yu Gothic"/>
                <a:ea typeface="Yu Gothic"/>
              </a:rPr>
              <a:t>私について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750" y="2343150"/>
            <a:ext cx="5619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2748A"/>
                </a:solidFill>
                <a:latin typeface="Yu Gothic"/>
                <a:ea typeface="Yu Gothic"/>
              </a:rPr>
              <a:t>自己紹介・日本に来たきっかけ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4500" y="2962275"/>
            <a:ext cx="99060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" y="3171825"/>
            <a:ext cx="819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F74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3181350"/>
            <a:ext cx="390524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Yu Gothic"/>
                <a:ea typeface="Yu Gothic"/>
              </a:rPr>
              <a:t>強みと目標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0" y="3238500"/>
            <a:ext cx="5619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2748A"/>
                </a:solidFill>
                <a:latin typeface="Yu Gothic"/>
                <a:ea typeface="Yu Gothic"/>
              </a:rPr>
              <a:t>自己PR・3年後の自分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4500" y="3857625"/>
            <a:ext cx="99060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550" y="4067175"/>
            <a:ext cx="819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F74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4500" y="4076699"/>
            <a:ext cx="390524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Yu Gothic"/>
                <a:ea typeface="Yu Gothic"/>
              </a:rPr>
              <a:t>Reserve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0750" y="4133849"/>
            <a:ext cx="5619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2748A"/>
                </a:solidFill>
                <a:latin typeface="Yu Gothic"/>
                <a:ea typeface="Yu Gothic"/>
              </a:rPr>
              <a:t>作品概要・設計・テスト・運用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500" y="4752975"/>
            <a:ext cx="99060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550" y="4962525"/>
            <a:ext cx="819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F74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4500" y="4972050"/>
            <a:ext cx="3905249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Yu Gothic"/>
                <a:ea typeface="Yu Gothic"/>
              </a:rPr>
              <a:t>デモとこれから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750" y="5029200"/>
            <a:ext cx="5619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2748A"/>
                </a:solidFill>
                <a:latin typeface="Yu Gothic"/>
                <a:ea typeface="Yu Gothic"/>
              </a:rPr>
              <a:t>予約の流れ・今後の改善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01 / 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経営学から、ITのものづくりへ。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新しい知識を学び、実際に形にすることが好きです。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47900"/>
            <a:ext cx="3381375" cy="3695700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050" y="2647950"/>
            <a:ext cx="2762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</a:rPr>
              <a:t>徐東潤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62325"/>
            <a:ext cx="2714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70E2C0"/>
                </a:solidFill>
                <a:latin typeface="Yu Gothic"/>
                <a:ea typeface="Yu Gothic"/>
              </a:rPr>
              <a:t>ソ・ドンユン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143375"/>
            <a:ext cx="2667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韓国出身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名古屋配属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419725"/>
            <a:ext cx="28098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BBC9D8"/>
                </a:solidFill>
                <a:latin typeface="Yu Gothic"/>
                <a:ea typeface="Yu Gothic"/>
              </a:rPr>
              <a:t>好奇心を、行動につなげる。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4350" y="2314575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350" y="275272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Yu Gothic"/>
                <a:ea typeface="Yu Gothic"/>
              </a:rPr>
              <a:t>大学：経営学専攻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4350" y="3238500"/>
            <a:ext cx="708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748A"/>
                </a:solidFill>
                <a:latin typeface="Yu Gothic"/>
                <a:ea typeface="Yu Gothic"/>
              </a:rPr>
              <a:t>AI金融ソフトウェア学科  /  Soldesk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4350" y="3800475"/>
            <a:ext cx="706755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4350" y="4038600"/>
            <a:ext cx="6762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4350" y="4457700"/>
            <a:ext cx="70485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82A40"/>
                </a:solidFill>
                <a:latin typeface="Yu Gothic"/>
                <a:ea typeface="Yu Gothic"/>
              </a:rPr>
              <a:t>Web・モバイルアプリ / 深層学習・機械学習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82A40"/>
                </a:solidFill>
                <a:latin typeface="Yu Gothic"/>
                <a:ea typeface="Yu Gothic"/>
              </a:rPr>
              <a:t>サーバー環境構築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4350" y="5562600"/>
            <a:ext cx="712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62748A"/>
                </a:solidFill>
                <a:latin typeface="Yu Gothic"/>
                <a:ea typeface="Yu Gothic"/>
              </a:rPr>
              <a:t>趣味：旅行・ゲーム・ドラマ・映画・読書・野球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01 / MY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「好き」が、日本で働くという決意に。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文化への関心を、学習と交流で一歩ずつ行動に変えました。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581275"/>
            <a:ext cx="2619375" cy="2476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762250"/>
            <a:ext cx="20954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087F74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457575"/>
            <a:ext cx="22574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文化への興味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114800"/>
            <a:ext cx="22764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アニメ・漫画を通じて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日本に興味を持つ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2775" y="3590925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2325" y="2581275"/>
            <a:ext cx="2619375" cy="2476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1875" y="2762250"/>
            <a:ext cx="20954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087F74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1875" y="3457575"/>
            <a:ext cx="22574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旅行での実感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875" y="4114800"/>
            <a:ext cx="22764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何度も日本を訪れ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文化や生活に親しむ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590925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2581275"/>
            <a:ext cx="2619375" cy="2476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850" y="2762250"/>
            <a:ext cx="20954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087F74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457575"/>
            <a:ext cx="22574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交流と学習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4114800"/>
            <a:ext cx="22764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約1年半の日本語交流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JLPT N2・N1を取得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8725" y="3590925"/>
            <a:ext cx="228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8275" y="2581275"/>
            <a:ext cx="2619375" cy="2476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7825" y="2762250"/>
            <a:ext cx="20954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087F74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7825" y="3457575"/>
            <a:ext cx="22574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日本で働く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7825" y="4114800"/>
            <a:ext cx="22764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日本で生活し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働くことを決意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74"/>
                </a:solidFill>
                <a:latin typeface="Yu Gothic"/>
                <a:ea typeface="Yu Gothic"/>
              </a:rPr>
              <a:t>興味を持つ → 続ける → 行動する。この姿勢を、仕事にも。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02 / MY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学び続け、仕組みで考え、最後まで動かす。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今回の開発で表れた、私の3つの強み。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38375"/>
            <a:ext cx="3571875" cy="30575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4288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0099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学び続ける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19524"/>
            <a:ext cx="3114675" cy="1362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未経験の技術を学び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設計・実装で確かめる。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ヘキサゴナル構成を実践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5300" y="2238375"/>
            <a:ext cx="3571875" cy="30575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4288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30099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仕組みで考える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819524"/>
            <a:ext cx="3114675" cy="1362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「動く」だけでなく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競合時の整合性まで考える。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アプリ＋DBで重複を防止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5775" y="2238375"/>
            <a:ext cx="3571875" cy="30575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4375" y="24288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0099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最後まで動かす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3819524"/>
            <a:ext cx="3114675" cy="1362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テスト・配備・障害分析まで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一連の流れを経験する。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ログを根拠に原因を特定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74"/>
                </a:solidFill>
                <a:latin typeface="Yu Gothic"/>
                <a:ea typeface="Yu Gothic"/>
              </a:rPr>
              <a:t>実装だけで終わらず、動く理由・失敗する理由まで理解する。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02 / CAREER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3年後：周囲から信頼されるテクニカルリードへ。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オープンウインドウ64から、目指す姿と8つの軸を整理。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098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" y="24098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技術力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8765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新技術の学習・AWS資格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4825" y="22098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5325" y="24098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コミュニケーション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7225" y="28765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傾聴・約束を守る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5300" y="22098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4098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高い成果・収入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699" y="28765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仕事の楽しさ・自己成長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34671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" y="36671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リーダーシップ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33849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責任感・全体を見る力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4825" y="34671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325" y="36671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70E2C0"/>
                </a:solidFill>
                <a:latin typeface="Yu Gothic"/>
                <a:ea typeface="Yu Gothic"/>
              </a:rPr>
              <a:t>テクニカルリード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7225" y="4133849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Yu Gothic"/>
                <a:ea typeface="Yu Gothic"/>
              </a:rPr>
              <a:t>信頼される存在へ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5300" y="34671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36671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メンタル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699" y="4133849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前向きな思考・感情管理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350" y="47244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9244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体力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53911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週3回の運動・睡眠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4825" y="47244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5325" y="49244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言語能力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7225" y="53911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日本語・IT用語・英語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5300" y="4724400"/>
            <a:ext cx="3562350" cy="1085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5800" y="4924425"/>
            <a:ext cx="3200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創造力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7699" y="5391150"/>
            <a:ext cx="3257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「なぜ？」・新しい方法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70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E2C0"/>
                </a:solidFill>
                <a:latin typeface="Aptos"/>
                <a:ea typeface="Aptos"/>
              </a:rPr>
              <a:t>03 / ORIGINAL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30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A2B2C5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E2C0"/>
                </a:solidFill>
                <a:latin typeface="Aptos"/>
                <a:ea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1247775"/>
            <a:ext cx="1076325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25" b="1">
                <a:solidFill>
                  <a:srgbClr val="FFFFFF"/>
                </a:solidFill>
                <a:latin typeface="Aptos"/>
                <a:ea typeface="Aptos"/>
              </a:rPr>
              <a:t>Reserve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2762250"/>
            <a:ext cx="1066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70E2C0"/>
                </a:solidFill>
                <a:latin typeface="Yu Gothic"/>
                <a:ea typeface="Yu Gothic"/>
              </a:rPr>
              <a:t>予約に、確かな仕組みを。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05224"/>
            <a:ext cx="1057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BBC9D8"/>
                </a:solidFill>
                <a:latin typeface="Yu Gothic"/>
                <a:ea typeface="Yu Gothic"/>
              </a:rPr>
              <a:t>会議室などの共有リソースを管理する、予約プラットフォーム。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2450" y="4914900"/>
            <a:ext cx="3562350" cy="828675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5114925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70E2C0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8275" y="511492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重複を防ぐ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925" y="4914900"/>
            <a:ext cx="3562350" cy="828675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3425" y="5114925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70E2C0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0" y="511492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変更に備える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399" y="4914900"/>
            <a:ext cx="3562350" cy="828675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3900" y="5114925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70E2C0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9225" y="511492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運用までつなぐ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予約システムは、「登録できる」だけでは足りない。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この題材を通じて、整合性・変更への対応・運用まで取り組みました。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57425"/>
            <a:ext cx="11163300" cy="971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486025"/>
            <a:ext cx="3505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同時に予約されたら？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428875"/>
            <a:ext cx="2905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重複予約のリスク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3875" y="2762250"/>
            <a:ext cx="67341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アプリの事前確認＋DB制約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350" y="3419475"/>
            <a:ext cx="11163300" cy="971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648075"/>
            <a:ext cx="3505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技術が変わったら？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3875" y="3590925"/>
            <a:ext cx="2905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予約ルールへの影響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3875" y="3924300"/>
            <a:ext cx="67341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ドメインと外部技術を分離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" y="4581525"/>
            <a:ext cx="11163300" cy="971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810125"/>
            <a:ext cx="3505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修正を公開するには？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3875" y="4752975"/>
            <a:ext cx="2905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品質確認と配備の手間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3875" y="5086350"/>
            <a:ext cx="67341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テスト・ビルド・配備を自動化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空き時間の確認から予約まで、ひとつの画面で。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会議室を選ぶ → 時間を選ぶ → 内容を確認する。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09</a:t>
            </a:r>
          </a:p>
        </p:txBody>
      </p:sp>
      <p:pic>
        <p:nvPicPr>
          <p:cNvPr id="9" name="Picture 8" descr="ui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276475"/>
            <a:ext cx="6705600" cy="3724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77150" y="2438400"/>
            <a:ext cx="39147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01  空き状況を確認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7150" y="2895600"/>
            <a:ext cx="39147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会議室・日付ごとに表示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7150" y="3562350"/>
            <a:ext cx="39147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02  選択内容を確認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7150" y="4019549"/>
            <a:ext cx="39147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時間帯と予約者を一覧化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7150" y="4686300"/>
            <a:ext cx="39147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03  予約後も管理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7150" y="5143500"/>
            <a:ext cx="39147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再照会・キャンセルに対応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067425"/>
            <a:ext cx="952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Yu Gothic"/>
                <a:ea typeface="Yu Gothic"/>
              </a:rPr>
              <a:t>実装画面の表示例（空き状況はサンプルデータ）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CORE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重複予約は、アプリとDBの二段階で防ぐ。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事前確認の直後に別のリクエストが入っても、最後はDBが整合性を守ります。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66950"/>
            <a:ext cx="4524375" cy="31813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524125"/>
            <a:ext cx="404812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同じ会議室 / 同じ時間帯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475" y="3143250"/>
            <a:ext cx="14287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43250"/>
            <a:ext cx="10477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11:00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7125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A40"/>
                </a:solidFill>
                <a:latin typeface="Yu Gothic"/>
                <a:ea typeface="Yu Gothic"/>
              </a:rPr>
              <a:t>要求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3550" y="3600450"/>
            <a:ext cx="2828925" cy="428625"/>
          </a:xfrm>
          <a:prstGeom prst="roundRect">
            <a:avLst>
              <a:gd name="adj" fmla="val 12000"/>
            </a:avLst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250" y="3676649"/>
            <a:ext cx="238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10:00 — 11:00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410075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A40"/>
                </a:solidFill>
                <a:latin typeface="Yu Gothic"/>
                <a:ea typeface="Yu Gothic"/>
              </a:rPr>
              <a:t>要求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3550" y="4343400"/>
            <a:ext cx="2828925" cy="428625"/>
          </a:xfrm>
          <a:prstGeom prst="roundRect">
            <a:avLst>
              <a:gd name="adj" fmla="val 12000"/>
            </a:avLst>
          </a:prstGeom>
          <a:solidFill>
            <a:srgbClr val="EB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0250" y="4419600"/>
            <a:ext cx="238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2A40"/>
                </a:solidFill>
                <a:latin typeface="Yu Gothic"/>
                <a:ea typeface="Yu Gothic"/>
              </a:rPr>
              <a:t>同じ時間帯は競合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0" y="2266950"/>
            <a:ext cx="6343650" cy="1485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0700" y="2514600"/>
            <a:ext cx="6191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87F74"/>
                </a:solidFill>
                <a:latin typeface="Aptos"/>
                <a:ea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2514600"/>
            <a:ext cx="476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182A40"/>
                </a:solidFill>
                <a:latin typeface="Aptos"/>
                <a:ea typeface="Aptos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3133725"/>
            <a:ext cx="48577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確定済み予約の重なりを事前確認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0" y="3962399"/>
            <a:ext cx="6343650" cy="1485900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700" y="4210050"/>
            <a:ext cx="61912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70E2C0"/>
                </a:solidFill>
                <a:latin typeface="Aptos"/>
                <a:ea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210050"/>
            <a:ext cx="476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</a:rPr>
              <a:t>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850" y="4829175"/>
            <a:ext cx="48577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FFF"/>
                </a:solidFill>
                <a:latin typeface="Yu Gothic"/>
                <a:ea typeface="Yu Gothic"/>
              </a:rPr>
              <a:t>排他制約で、同時実行時も最終保護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74"/>
                </a:solidFill>
                <a:latin typeface="Yu Gothic"/>
                <a:ea typeface="Yu Gothic"/>
              </a:rPr>
              <a:t>対象は CONFIRMED のみ。キャンセル後は、同じ時間帯を再予約できます。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変わりやすい技術と、変えたくない予約ルールを分ける。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ヘキサゴナルアーキテクチャ / Ports &amp; Adapters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6575" y="2343150"/>
            <a:ext cx="5972175" cy="295275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5650" y="2533650"/>
            <a:ext cx="55435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87F74"/>
                </a:solidFill>
                <a:latin typeface="Yu Gothic"/>
                <a:ea typeface="Yu Gothic"/>
              </a:rPr>
              <a:t>CORE  /  予約のルールとユースケース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3200400"/>
            <a:ext cx="2114550" cy="14573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3371850"/>
            <a:ext cx="17049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87F74"/>
                </a:solidFill>
                <a:latin typeface="Aptos"/>
                <a:ea typeface="Aptos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781425"/>
            <a:ext cx="17145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82A40"/>
                </a:solidFill>
                <a:latin typeface="Aptos"/>
                <a:ea typeface="Aptos"/>
              </a:rPr>
              <a:t>REST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82A40"/>
                </a:solidFill>
                <a:latin typeface="Aptos"/>
                <a:ea typeface="Aptos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6525" y="3705224"/>
            <a:ext cx="3524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6125" y="3190875"/>
            <a:ext cx="1752600" cy="14668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525" y="3371850"/>
            <a:ext cx="14763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INPUT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525" y="3800475"/>
            <a:ext cx="1524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Aptos"/>
                <a:ea typeface="Aptos"/>
              </a:rPr>
              <a:t>Use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6825" y="3705224"/>
            <a:ext cx="3524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7350" y="3057525"/>
            <a:ext cx="3133725" cy="1733550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7850" y="3257550"/>
            <a:ext cx="2762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E2C0"/>
                </a:solidFill>
                <a:latin typeface="Aptos"/>
                <a:ea typeface="Aptos"/>
              </a:rPr>
              <a:t>APPLICATION /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850" y="3705224"/>
            <a:ext cx="27336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</a:rPr>
              <a:t>Reservation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850" y="4257675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FFF"/>
                </a:solidFill>
                <a:latin typeface="Yu Gothic"/>
                <a:ea typeface="Yu Gothic"/>
              </a:rPr>
              <a:t>状態と時間のルール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3100" y="4972050"/>
            <a:ext cx="27432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87F74"/>
                </a:solidFill>
                <a:latin typeface="Aptos"/>
                <a:ea typeface="Aptos"/>
              </a:rPr>
              <a:t>Repository 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3050" y="3705224"/>
            <a:ext cx="342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91675" y="3200400"/>
            <a:ext cx="2085975" cy="14573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2650" y="3371850"/>
            <a:ext cx="17621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650" y="3819524"/>
            <a:ext cx="18097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A40"/>
                </a:solidFill>
                <a:latin typeface="Aptos"/>
                <a:ea typeface="Aptos"/>
              </a:rPr>
              <a:t>JPA Adapter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A40"/>
                </a:solidFill>
                <a:latin typeface="Aptos"/>
                <a:ea typeface="Aptos"/>
              </a:rP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74"/>
                </a:solidFill>
                <a:latin typeface="Yu Gothic"/>
                <a:ea typeface="Yu Gothic"/>
              </a:rPr>
              <a:t>中心のルールは、Spring MVCやJPAに直接依存しない。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50" y="6115050"/>
            <a:ext cx="9525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Yu Gothic"/>
                <a:ea typeface="Yu Gothic"/>
              </a:rPr>
              <a:t>矢印：処理の流れを簡略化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「同時に来ても1件だけ」を、テストで確かめる。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APIレベルの同時実行テストで、レスポンスと保存件数を確認。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324100"/>
            <a:ext cx="3562350" cy="2457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505075"/>
            <a:ext cx="31051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82A40"/>
                </a:solidFill>
                <a:latin typeface="Aptos"/>
                <a:ea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48124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62748A"/>
                </a:solidFill>
                <a:latin typeface="Yu Gothic"/>
                <a:ea typeface="Yu Gothic"/>
              </a:rPr>
              <a:t>同時リクエスト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4825" y="2324100"/>
            <a:ext cx="3562350" cy="2457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3425" y="2505075"/>
            <a:ext cx="31051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087F74"/>
                </a:solidFill>
                <a:latin typeface="Aptos"/>
                <a:ea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75" y="4048124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62748A"/>
                </a:solidFill>
                <a:latin typeface="Yu Gothic"/>
                <a:ea typeface="Yu Gothic"/>
              </a:rPr>
              <a:t>201 Created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5300" y="2324100"/>
            <a:ext cx="3562350" cy="2457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900" y="2505075"/>
            <a:ext cx="31051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182A40"/>
                </a:solidFill>
                <a:latin typeface="Aptos"/>
                <a:ea typeface="Aptos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49" y="4048124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62748A"/>
                </a:solidFill>
                <a:latin typeface="Yu Gothic"/>
                <a:ea typeface="Yu Gothic"/>
              </a:rPr>
              <a:t>409 Conflict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" y="5010150"/>
            <a:ext cx="11163300" cy="1019174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475" y="5229225"/>
            <a:ext cx="3619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>
                <a:solidFill>
                  <a:srgbClr val="70E2C0"/>
                </a:solidFill>
                <a:latin typeface="Yu Gothic"/>
                <a:ea typeface="Yu Gothic"/>
              </a:rPr>
              <a:t>DB保存：1件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5210175"/>
            <a:ext cx="67722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</a:rPr>
              <a:t>既存JUnitレポート：29件成功 / 失敗・エラー 0件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Yu Gothic"/>
                <a:ea typeface="Yu Gothic"/>
              </a:rPr>
              <a:t>Domain・Application・Persistence・Webを検証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テスト済みの成果物を、そのままサーバーへ。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GitHub Actionsで、検証から配備までをつなぐ。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447925"/>
            <a:ext cx="2619375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425" y="2638425"/>
            <a:ext cx="2143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87F74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171825"/>
            <a:ext cx="22288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Aptos"/>
                <a:ea typeface="Aptos"/>
              </a:rPr>
              <a:t>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3800475"/>
            <a:ext cx="22193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main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2775" y="3219450"/>
            <a:ext cx="23812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2325" y="2447925"/>
            <a:ext cx="2619375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2638425"/>
            <a:ext cx="2143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87F74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171825"/>
            <a:ext cx="22288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Aptos"/>
                <a:ea typeface="Aptos"/>
              </a:rPr>
              <a:t>Test &amp;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3800475"/>
            <a:ext cx="22193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GitHub-hosted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219450"/>
            <a:ext cx="23812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2447925"/>
            <a:ext cx="2619375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9375" y="2638425"/>
            <a:ext cx="2143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87F74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171825"/>
            <a:ext cx="22288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Aptos"/>
                <a:ea typeface="Aptos"/>
              </a:rPr>
              <a:t>JAR Artifact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800475"/>
            <a:ext cx="22193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検証済み成果物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8725" y="3219450"/>
            <a:ext cx="23812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74"/>
                </a:solidFill>
                <a:latin typeface="Yu Gothic"/>
                <a:ea typeface="Yu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8275" y="2447925"/>
            <a:ext cx="2619375" cy="1905000"/>
          </a:xfrm>
          <a:prstGeom prst="roundRect">
            <a:avLst>
              <a:gd name="adj" fmla="val 12000"/>
            </a:avLst>
          </a:prstGeom>
          <a:solidFill>
            <a:srgbClr val="11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7350" y="2638425"/>
            <a:ext cx="2143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70E2C0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7350" y="3171825"/>
            <a:ext cx="22288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7350" y="3800475"/>
            <a:ext cx="22193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BC9D8"/>
                </a:solidFill>
                <a:latin typeface="Yu Gothic"/>
                <a:ea typeface="Yu Gothic"/>
              </a:rPr>
              <a:t>Self-hosted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4762500"/>
            <a:ext cx="11163300" cy="12573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425" y="4933950"/>
            <a:ext cx="10001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87F74"/>
                </a:solidFill>
                <a:latin typeface="Aptos"/>
                <a:ea typeface="Aptos"/>
              </a:rPr>
              <a:t>ORACLE LINUX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5314950"/>
            <a:ext cx="10620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82A40"/>
                </a:solidFill>
                <a:latin typeface="Aptos"/>
                <a:ea typeface="Aptos"/>
              </a:rPr>
              <a:t>Nginx  →  Spring Boot / systemd  →  PostgreSQL / Docker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03 /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エラーの表面ではなく、ログから原因を探る。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配備環境で直面した3つの問題と、その解決。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200275"/>
            <a:ext cx="36671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7F74"/>
                </a:solidFill>
                <a:latin typeface="Yu Gothic"/>
                <a:ea typeface="Yu Gothic"/>
              </a:rPr>
              <a:t>発生した問題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7175" y="2200275"/>
            <a:ext cx="36671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7F74"/>
                </a:solidFill>
                <a:latin typeface="Yu Gothic"/>
                <a:ea typeface="Yu Gothic"/>
              </a:rPr>
              <a:t>確認した原因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1425" y="2200275"/>
            <a:ext cx="36671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87F74"/>
                </a:solidFill>
                <a:latin typeface="Yu Gothic"/>
                <a:ea typeface="Yu Gothic"/>
              </a:rPr>
              <a:t>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350" y="2647950"/>
            <a:ext cx="111633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425" y="2857500"/>
            <a:ext cx="3286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82A40"/>
                </a:solidFill>
                <a:latin typeface="Yu Gothic"/>
                <a:ea typeface="Yu Gothic"/>
              </a:rPr>
              <a:t>Runner 認証失敗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7175" y="2867025"/>
            <a:ext cx="33813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VMの時刻ずれ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1425" y="2876550"/>
            <a:ext cx="38576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A40"/>
                </a:solidFill>
                <a:latin typeface="Yu Gothic"/>
                <a:ea typeface="Yu Gothic"/>
              </a:rPr>
              <a:t>chronyで時刻を同期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" y="3533775"/>
            <a:ext cx="111633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425" y="3743325"/>
            <a:ext cx="3286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82A40"/>
                </a:solidFill>
                <a:latin typeface="Yu Gothic"/>
                <a:ea typeface="Yu Gothic"/>
              </a:rPr>
              <a:t>systemd 203/EXEC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7175" y="3752850"/>
            <a:ext cx="33813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SELinuxによる実行制限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1425" y="3762374"/>
            <a:ext cx="38576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A40"/>
                </a:solidFill>
                <a:latin typeface="Yu Gothic"/>
                <a:ea typeface="Yu Gothic"/>
              </a:rPr>
              <a:t>/optへ移動・コンテキスト復元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" y="4419600"/>
            <a:ext cx="111633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425" y="4629150"/>
            <a:ext cx="3286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82A40"/>
                </a:solidFill>
                <a:latin typeface="Yu Gothic"/>
                <a:ea typeface="Yu Gothic"/>
              </a:rPr>
              <a:t>Nginx 502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7175" y="4638675"/>
            <a:ext cx="338137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2748A"/>
                </a:solidFill>
                <a:latin typeface="Yu Gothic"/>
                <a:ea typeface="Yu Gothic"/>
              </a:rPr>
              <a:t>SELinuxによる通信制限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1425" y="4648200"/>
            <a:ext cx="38576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A40"/>
                </a:solidFill>
                <a:latin typeface="Yu Gothic"/>
                <a:ea typeface="Yu Gothic"/>
              </a:rPr>
              <a:t>必要なネットワーク設定を許可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E5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87F74"/>
                </a:solidFill>
                <a:latin typeface="Yu Gothic"/>
                <a:ea typeface="Yu Gothic"/>
              </a:rPr>
              <a:t>大切にしたこと：ログで原因を特定し、必要な変更だけを加える。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70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E2C0"/>
                </a:solidFill>
                <a:latin typeface="Aptos"/>
                <a:ea typeface="Aptos"/>
              </a:rPr>
              <a:t>04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FFFFFF"/>
                </a:solidFill>
                <a:latin typeface="Yu Gothic"/>
                <a:ea typeface="Yu Gothic"/>
              </a:rPr>
              <a:t>予約 → 再照会 → キャンセル → 再予約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画面の変化と、保存された状態をセットで確認します。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30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A2B2C5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E2C0"/>
                </a:solidFill>
                <a:latin typeface="Aptos"/>
                <a:ea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476500"/>
            <a:ext cx="2619375" cy="278130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705100"/>
            <a:ext cx="219075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70E2C0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457575"/>
            <a:ext cx="2238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予約する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391025"/>
            <a:ext cx="223837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CONFIRMED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空き → 予約済み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2325" y="2476500"/>
            <a:ext cx="2619375" cy="278130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1875" y="2705100"/>
            <a:ext cx="219075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70E2C0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875" y="3457575"/>
            <a:ext cx="2238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DBから再照会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1875" y="4391025"/>
            <a:ext cx="223837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保存された予約を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再取得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2476500"/>
            <a:ext cx="2619375" cy="278130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850" y="2705100"/>
            <a:ext cx="219075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70E2C0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457575"/>
            <a:ext cx="2238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キャンセル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4391025"/>
            <a:ext cx="223837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CANCELLED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予約済み → 空き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8275" y="2476500"/>
            <a:ext cx="2619375" cy="278130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825" y="2705100"/>
            <a:ext cx="2190750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70E2C0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825" y="3457575"/>
            <a:ext cx="2238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</a:rPr>
              <a:t>同じ時間に再予約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825" y="4391025"/>
            <a:ext cx="223837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履歴を残しながら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9D8"/>
                </a:solidFill>
                <a:latin typeface="Yu Gothic"/>
                <a:ea typeface="Yu Gothic"/>
              </a:rPr>
              <a:t>時間帯を再利用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50" y="5648325"/>
            <a:ext cx="11163300" cy="457200"/>
          </a:xfrm>
          <a:prstGeom prst="roundRect">
            <a:avLst>
              <a:gd name="adj" fmla="val 12000"/>
            </a:avLst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5743575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70E2C0"/>
                </a:solidFill>
                <a:latin typeface="Yu Gothic"/>
                <a:ea typeface="Yu Gothic"/>
              </a:rPr>
              <a:t>確認ポイント：画面の表示だけでなく、DBに保存された状態を見る。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04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次は、デモから実運用へ。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現在の制約を整理し、改善の優先順位を明確にする。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276475"/>
            <a:ext cx="3571875" cy="3162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4669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NEXT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0480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一覧取得を効率化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857625"/>
            <a:ext cx="3114675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時間帯ごとのAPI呼び出し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→ 日付・会議室単位の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   一括取得APIへ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5300" y="2276475"/>
            <a:ext cx="3571875" cy="3162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3900" y="24669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NEXT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30480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利用者ごとの管理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857625"/>
            <a:ext cx="3114675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認証・認可を追加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→ 自分の予約一覧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→ 会議室情報のDB管理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5775" y="2276475"/>
            <a:ext cx="3571875" cy="3162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4375" y="2466975"/>
            <a:ext cx="31146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87F74"/>
                </a:solidFill>
                <a:latin typeface="Aptos"/>
                <a:ea typeface="Aptos"/>
              </a:rPr>
              <a:t>NEXT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048000"/>
            <a:ext cx="3114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82A40"/>
                </a:solidFill>
                <a:latin typeface="Yu Gothic"/>
                <a:ea typeface="Yu Gothic"/>
              </a:rPr>
              <a:t>運用の見える化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3857625"/>
            <a:ext cx="3114675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HTTPS・監視を整備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→ Secret管理を強化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→ 障害の早期発見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57816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48A"/>
                </a:solidFill>
                <a:latin typeface="Yu Gothic"/>
                <a:ea typeface="Yu Gothic"/>
              </a:rPr>
              <a:t>上記は今後の改善予定です。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70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0E2C0"/>
                </a:solidFill>
                <a:latin typeface="Aptos"/>
                <a:ea typeface="Aptos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30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A2B2C5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0E2C0"/>
                </a:solidFill>
                <a:latin typeface="Aptos"/>
                <a:ea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1457325"/>
            <a:ext cx="11163300" cy="1704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Yu Gothic"/>
                <a:ea typeface="Yu Gothic"/>
              </a:rPr>
              <a:t>つくる。確かめる。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Yu Gothic"/>
                <a:ea typeface="Yu Gothic"/>
              </a:rPr>
              <a:t>動かし続ける。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648075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E2C0"/>
                </a:solidFill>
                <a:latin typeface="Yu Gothic"/>
                <a:ea typeface="Yu Gothic"/>
              </a:rPr>
              <a:t>学びを積み重ね、信頼されるエンジニアへ。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" y="4762500"/>
            <a:ext cx="1100137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Yu Gothic"/>
                <a:ea typeface="Yu Gothic"/>
              </a:rPr>
              <a:t>ご清聴ありがとうございました。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" y="5438775"/>
            <a:ext cx="10763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BC9D8"/>
                </a:solidFill>
                <a:latin typeface="Yu Gothic"/>
                <a:ea typeface="Yu Gothic"/>
              </a:rPr>
              <a:t>徐東潤  /  ソ・ドンユン   ｜   名古屋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APPENDIX A / ORIGINAL VISION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オープンウインドウ64：原本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本人が作成した、3年後の目標と行動計画。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18</a:t>
            </a:r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62175"/>
            <a:ext cx="6020061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3275" y="2476500"/>
            <a:ext cx="4000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87F74"/>
                </a:solidFill>
                <a:latin typeface="Yu Gothic"/>
                <a:ea typeface="Yu Gothic"/>
              </a:rPr>
              <a:t>中心の目標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3275" y="2933700"/>
            <a:ext cx="400050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182A40"/>
                </a:solidFill>
                <a:latin typeface="Yu Gothic"/>
                <a:ea typeface="Yu Gothic"/>
              </a:rPr>
              <a:t>テクニカル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182A40"/>
                </a:solidFill>
                <a:latin typeface="Yu Gothic"/>
                <a:ea typeface="Yu Gothic"/>
              </a:rPr>
              <a:t>リード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3275" y="4572000"/>
            <a:ext cx="4067175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62748A"/>
                </a:solidFill>
                <a:latin typeface="Yu Gothic"/>
                <a:ea typeface="Yu Gothic"/>
              </a:rPr>
              <a:t>技術・対話・健康・語学。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62748A"/>
                </a:solidFill>
                <a:latin typeface="Yu Gothic"/>
                <a:ea typeface="Yu Gothic"/>
              </a:rPr>
              <a:t>継続できる日々の行動へ。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4350" y="381000"/>
            <a:ext cx="266700" cy="38100"/>
          </a:xfrm>
          <a:prstGeom prst="rect">
            <a:avLst/>
          </a:prstGeom>
          <a:solidFill>
            <a:srgbClr val="087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5350" y="276225"/>
            <a:ext cx="97155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7F74"/>
                </a:solidFill>
                <a:latin typeface="Aptos"/>
                <a:ea typeface="Aptos"/>
              </a:rPr>
              <a:t>APPENDIX B /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857250"/>
            <a:ext cx="1119187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>
                <a:solidFill>
                  <a:srgbClr val="182A40"/>
                </a:solidFill>
                <a:latin typeface="Yu Gothic"/>
                <a:ea typeface="Yu Gothic"/>
              </a:rPr>
              <a:t>設計について聞かれたら。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524000"/>
            <a:ext cx="10953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Yu Gothic"/>
                <a:ea typeface="Yu Gothic"/>
              </a:rPr>
              <a:t>選択理由だけでなく、トレードオフも説明できるように。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6343650"/>
            <a:ext cx="11163300" cy="9525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6486525"/>
            <a:ext cx="914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2748A"/>
                </a:solidFill>
                <a:latin typeface="Aptos"/>
                <a:ea typeface="Aptos"/>
              </a:rPr>
              <a:t>SO DONGYUN  /  ORIGINAL WORK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38900"/>
            <a:ext cx="60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74"/>
                </a:solidFill>
                <a:latin typeface="Aptos"/>
                <a:ea typeface="Apto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" y="2181225"/>
            <a:ext cx="11163300" cy="110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457450"/>
            <a:ext cx="3333750" cy="466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なぜヘキサゴナル？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0050" y="2371725"/>
            <a:ext cx="7200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2A40"/>
                </a:solidFill>
                <a:latin typeface="Yu Gothic"/>
                <a:ea typeface="Yu Gothic"/>
              </a:rPr>
              <a:t>予約ルールを外部技術から分離し、テストしやすくする。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0050" y="2838450"/>
            <a:ext cx="72009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87F74"/>
                </a:solidFill>
                <a:latin typeface="Yu Gothic"/>
                <a:ea typeface="Yu Gothic"/>
              </a:rPr>
              <a:t>代償：小規模でもクラス数が増える。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350" y="3486150"/>
            <a:ext cx="11163300" cy="110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2374"/>
            <a:ext cx="3333750" cy="466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なぜ静的HTML？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0050" y="3676649"/>
            <a:ext cx="7200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2A40"/>
                </a:solidFill>
                <a:latin typeface="Yu Gothic"/>
                <a:ea typeface="Yu Gothic"/>
              </a:rPr>
              <a:t>予約ロジックと配備までの完成を優先し、配布単位をひとつに。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0050" y="4143375"/>
            <a:ext cx="72009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87F74"/>
                </a:solidFill>
                <a:latin typeface="Yu Gothic"/>
                <a:ea typeface="Yu Gothic"/>
              </a:rPr>
              <a:t>今後：画面や規模に応じて構成を見直す。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" y="4791075"/>
            <a:ext cx="11163300" cy="110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5067300"/>
            <a:ext cx="3333750" cy="466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82A40"/>
                </a:solidFill>
                <a:latin typeface="Yu Gothic"/>
                <a:ea typeface="Yu Gothic"/>
              </a:rPr>
              <a:t>DBは交換できる？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0050" y="4981575"/>
            <a:ext cx="72009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82A40"/>
                </a:solidFill>
                <a:latin typeface="Yu Gothic"/>
                <a:ea typeface="Yu Gothic"/>
              </a:rPr>
              <a:t>Repository Portを境界に、保存の実装を分離。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0050" y="5448300"/>
            <a:ext cx="72009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87F74"/>
                </a:solidFill>
                <a:latin typeface="Yu Gothic"/>
                <a:ea typeface="Yu Gothic"/>
              </a:rPr>
              <a:t>注意：PostgreSQL固有の排他制約は再設計が必要。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オリジナル作品発表会 | ソ・ドンユン | Reserve Hub</dc:title>
  <dc:subject>自己紹介・キャリアビジョン・Reserve Hub</dc:subject>
  <dc:creator>ソ・ドンユン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